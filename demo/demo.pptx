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83394-85B7-4342-A3BC-08219B2ED042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D9411-CF80-4123-BC74-226A80573D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132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ED9411-CF80-4123-BC74-226A80573D4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154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03751-B367-17E1-865E-8C324EFA0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0D2D50-3333-5D9A-080E-ACC60354B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DE6039-674B-8826-BE7E-422DEC34C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689FD5-FA2B-51B3-06F8-772BBAC42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ED9411-CF80-4123-BC74-226A80573D4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708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5E6BB-2751-38F3-01C4-C31AA80FA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217290-57A7-13A2-ECE3-68327F15B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B3640A-6804-763A-CEB6-68235367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AB3F6-1D4F-4CD4-A6D9-B21B0A06517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E7866D-E447-1D06-9349-51EAE35B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ADBC92-5A70-6868-DC0B-219D27ED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2F5B2-0274-4655-BC9C-278302E1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11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B27A9-1211-22BE-65A0-7F21E7CF1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400905-DB2B-4FAA-546B-311E31341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F43043-2CB3-B77F-AD2C-781467DFD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AB3F6-1D4F-4CD4-A6D9-B21B0A06517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6F3C1-6ECE-9191-9D76-7E18C08B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A70E29-089F-2EC9-D429-288F27B3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2F5B2-0274-4655-BC9C-278302E1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445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17FF3-E6F6-803C-D3DB-CDFE2D7E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4110B9-4B90-A7F0-7F35-029CE9807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643E4-4028-5B60-2E1A-E0CAC90A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AB3F6-1D4F-4CD4-A6D9-B21B0A06517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FA1B7D-2905-55A7-3ADA-EBB14ABE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AA15BD-53F5-3789-F8ED-9A70EAC0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2F5B2-0274-4655-BC9C-278302E1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82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95297-E280-B24E-9A6C-C0663C8C8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4C6C02-D049-C6F3-F040-0F5AD2E14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20B00A-7C06-4B42-5077-BF015B29C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67CE5F-D0F1-5E2F-D005-27E01FC2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AB3F6-1D4F-4CD4-A6D9-B21B0A06517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6B5697-D8EB-8541-0C40-D9E960BA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4ABC58-D569-CDA5-9CCB-7BE6595D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2F5B2-0274-4655-BC9C-278302E1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07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A420F-A355-E951-F51E-032C5BCA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2C812-A7BD-C90D-9049-2AE2092E1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E0B883-283B-666E-C1AE-9AE18259E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9A4E13-BA97-3E4B-215A-619E21BF4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D2B974-1936-8532-E6A0-2D29182C1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4E352C-8DA1-C348-4468-59F8C249B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AB3F6-1D4F-4CD4-A6D9-B21B0A06517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034CDF7-B197-37D0-C6E0-69F8D79E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3EBED6-755C-16C2-B5D5-7634586D6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2F5B2-0274-4655-BC9C-278302E1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298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3F349-D361-6C72-BACC-4D7FECEC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290201-DF44-8577-B5D5-E26F8A516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AB3F6-1D4F-4CD4-A6D9-B21B0A06517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CE2702-5D47-0120-8E80-ADBA4367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CA0A6B-21CF-FEE6-A348-C4B2451E9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2F5B2-0274-4655-BC9C-278302E1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412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B26F88-9ED4-C64D-25A9-B0CCFF7B2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AB3F6-1D4F-4CD4-A6D9-B21B0A06517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DEB053-5C37-CA79-374A-08E6E2ECD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3C283-E461-767E-FAD0-8A0932B2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2F5B2-0274-4655-BC9C-278302E1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1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E8898-A118-86D5-E2ED-22BBA9F8C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ADCF9E-7231-9F93-DE20-9A8C802F9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6B10AC-506E-1E8D-D3A3-A3CF6F3B7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8C6C28-EB04-C129-B1EB-AB9D6D09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AB3F6-1D4F-4CD4-A6D9-B21B0A06517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DB89BC-0E30-E322-AA0B-CD66D83E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D95940-11C6-EF8B-0C8D-70168BBE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2F5B2-0274-4655-BC9C-278302E1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524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D69E3-3596-D483-6D40-385BD1BA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4F56E0-E0B2-B3F7-E941-0965BF27C07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B7B76C-1259-D78F-6C27-55CB8DFF8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1CDC24-5AC4-AD68-91BF-171AA13DF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AB3F6-1D4F-4CD4-A6D9-B21B0A06517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F34FD2-295A-2676-7E7E-5CF72EF5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19ABF0-095C-497B-C5AB-00091135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2F5B2-0274-4655-BC9C-278302E1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762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DE183-C73E-68DA-9E4F-1042349B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4ACF9D-C00F-78BC-2DE8-A1001DD6B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D3EBAD-B529-F548-B18E-4CD53D07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AB3F6-1D4F-4CD4-A6D9-B21B0A06517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133BB8-5BB0-1EAF-C03D-A5C3CCB6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63D7C2-29EA-4507-5765-E887853DE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2F5B2-0274-4655-BC9C-278302E1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257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19A23-7EC3-3642-F793-CDBB1EEC3C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B00B6A-E13D-F210-01E9-AE0397EDF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BEA045-B258-1CC3-1571-B0374AFDC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AB3F6-1D4F-4CD4-A6D9-B21B0A06517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359D72-6208-2B6E-774F-B5CA868FA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52B75A-4D24-BCFA-CA3D-6EA79BBD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2F5B2-0274-4655-BC9C-278302E1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33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4C72E1-0EF3-AAF7-5A1D-9284E035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D88087-2B83-C7D4-3477-F92639ECB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1C2D8B-44E1-A6D8-B8C0-71C3060E8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AB3F6-1D4F-4CD4-A6D9-B21B0A06517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296092-CD5A-D46F-4A90-C023A1AEB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09CC4-54DA-332E-332D-03CDDA7B6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2F5B2-0274-4655-BC9C-278302E1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8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8B8AC-6FF1-A08B-88E1-E0588D6F0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7427"/>
            <a:ext cx="9144000" cy="2387600"/>
          </a:xfrm>
        </p:spPr>
        <p:txBody>
          <a:bodyPr/>
          <a:lstStyle/>
          <a:p>
            <a:r>
              <a:rPr lang="en-US" altLang="zh-CN" b="1" dirty="0"/>
              <a:t>Grounding with Bing Custom Search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125716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F4285-FD21-AF53-5BF0-124062C3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Business Purpose – Smart Nudge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CBCF2F-B641-D2A2-F0EA-2F929625B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zh-CN" altLang="zh-CN" sz="2400" b="1" dirty="0"/>
              <a:t>Support the GCE Office:</a:t>
            </a:r>
            <a:r>
              <a:rPr lang="zh-CN" altLang="zh-CN" sz="2400" dirty="0"/>
              <a:t> Monitor public news and announcements relevant to AIA, the insurance industry, and regulatory developments.</a:t>
            </a:r>
            <a:endParaRPr lang="en-US" altLang="zh-CN" sz="2400" dirty="0"/>
          </a:p>
          <a:p>
            <a:pPr lvl="0"/>
            <a:endParaRPr lang="zh-CN" altLang="zh-CN" sz="2400" dirty="0"/>
          </a:p>
          <a:p>
            <a:pPr lvl="0"/>
            <a:r>
              <a:rPr lang="zh-CN" altLang="zh-CN" sz="2400" b="1" dirty="0"/>
              <a:t>Focus on designated websites:</a:t>
            </a:r>
            <a:r>
              <a:rPr lang="zh-CN" altLang="zh-CN" sz="2400" dirty="0"/>
              <a:t> Search official sources selected for each monitoring topic.</a:t>
            </a:r>
            <a:endParaRPr lang="en-US" altLang="zh-CN" sz="2400" dirty="0"/>
          </a:p>
          <a:p>
            <a:pPr lvl="0"/>
            <a:endParaRPr lang="zh-CN" altLang="zh-CN" sz="2400" dirty="0"/>
          </a:p>
          <a:p>
            <a:pPr lvl="0"/>
            <a:r>
              <a:rPr lang="zh-CN" altLang="zh-CN" sz="2400" b="1" dirty="0"/>
              <a:t>Produce executive briefs:</a:t>
            </a:r>
            <a:r>
              <a:rPr lang="zh-CN" altLang="zh-CN" sz="2400" dirty="0"/>
              <a:t> Summarize relevant updates in English with source links.</a:t>
            </a:r>
            <a:endParaRPr lang="en-US" altLang="zh-CN" sz="2400" dirty="0"/>
          </a:p>
          <a:p>
            <a:pPr lvl="0"/>
            <a:endParaRPr lang="zh-CN" altLang="zh-CN" sz="2400" dirty="0"/>
          </a:p>
          <a:p>
            <a:pPr lvl="0"/>
            <a:r>
              <a:rPr lang="zh-CN" altLang="zh-CN" sz="2400" b="1" dirty="0"/>
              <a:t>Reduce manual effort:</a:t>
            </a:r>
            <a:r>
              <a:rPr lang="zh-CN" altLang="zh-CN" sz="2400" dirty="0"/>
              <a:t> Streamline website searching, information screening, and briefing preparation.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9499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10AA9-2AE2-78D4-26BE-E44D0A1D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Solution Architecture</a:t>
            </a:r>
            <a:endParaRPr lang="zh-CN" altLang="en-US" b="1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6C3AA43-019D-13C5-3A28-E94BBBEC9A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334461" cy="43513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6C9C27A-22A3-0BAA-0D04-91721BB1D6DA}"/>
              </a:ext>
            </a:extLst>
          </p:cNvPr>
          <p:cNvSpPr txBox="1"/>
          <p:nvPr/>
        </p:nvSpPr>
        <p:spPr>
          <a:xfrm>
            <a:off x="7279804" y="1740310"/>
            <a:ext cx="447171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sz="2000" b="1" dirty="0"/>
              <a:t>Azure configuration:</a:t>
            </a:r>
            <a:r>
              <a:rPr lang="zh-CN" altLang="zh-CN" sz="2000" dirty="0"/>
              <a:t> Maintain separate website lists for different monitoring needs.</a:t>
            </a:r>
            <a:endParaRPr lang="en-US" altLang="zh-CN" sz="2000" dirty="0"/>
          </a:p>
          <a:p>
            <a:pPr lvl="0"/>
            <a:endParaRPr lang="zh-CN" altLang="zh-CN" sz="2000" dirty="0"/>
          </a:p>
          <a:p>
            <a:pPr lvl="0"/>
            <a:r>
              <a:rPr lang="zh-CN" altLang="zh-CN" sz="2000" b="1" dirty="0"/>
              <a:t>Foundry Agent:</a:t>
            </a:r>
            <a:r>
              <a:rPr lang="zh-CN" altLang="zh-CN" sz="2000" dirty="0"/>
              <a:t> Use the selected configuration to retrieve information and generate a cited response.</a:t>
            </a:r>
            <a:endParaRPr lang="en-US" altLang="zh-CN" sz="2000" dirty="0"/>
          </a:p>
          <a:p>
            <a:pPr lvl="0"/>
            <a:endParaRPr lang="zh-CN" altLang="zh-CN" sz="2000" dirty="0"/>
          </a:p>
          <a:p>
            <a:pPr lvl="0"/>
            <a:r>
              <a:rPr lang="zh-CN" altLang="zh-CN" sz="2000" b="1" dirty="0"/>
              <a:t>Dify workflow:</a:t>
            </a:r>
            <a:r>
              <a:rPr lang="zh-CN" altLang="zh-CN" sz="2000" dirty="0"/>
              <a:t> Invoke the agent through an authenticated API, then process and format the response.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198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76355-871D-BF72-85CD-E0787B1C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Live Demo: General vs Custom Search</a:t>
            </a:r>
            <a:endParaRPr lang="zh-CN" altLang="en-US" b="1" dirty="0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0E042F66-DE4D-C192-8CE9-7DEAE80C1C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9022473"/>
              </p:ext>
            </p:extLst>
          </p:nvPr>
        </p:nvGraphicFramePr>
        <p:xfrm>
          <a:off x="838200" y="2087217"/>
          <a:ext cx="10515600" cy="3488634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536135">
                  <a:extLst>
                    <a:ext uri="{9D8B030D-6E8A-4147-A177-3AD203B41FA5}">
                      <a16:colId xmlns:a16="http://schemas.microsoft.com/office/drawing/2014/main" val="1462519100"/>
                    </a:ext>
                  </a:extLst>
                </a:gridCol>
                <a:gridCol w="4474265">
                  <a:extLst>
                    <a:ext uri="{9D8B030D-6E8A-4147-A177-3AD203B41FA5}">
                      <a16:colId xmlns:a16="http://schemas.microsoft.com/office/drawing/2014/main" val="2409034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38579709"/>
                    </a:ext>
                  </a:extLst>
                </a:gridCol>
              </a:tblGrid>
              <a:tr h="6342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b="1" dirty="0"/>
                        <a:t>General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b="1" dirty="0"/>
                        <a:t>Custom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997507"/>
                  </a:ext>
                </a:extLst>
              </a:tr>
              <a:tr h="634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b="1" dirty="0"/>
                        <a:t>Search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Broad public web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Predefined websites and domains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8582367"/>
                  </a:ext>
                </a:extLst>
              </a:tr>
              <a:tr h="1110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b="1" dirty="0"/>
                        <a:t>Source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May include official and third-party 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Restricts retrieval to configured sources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377421"/>
                  </a:ext>
                </a:extLst>
              </a:tr>
              <a:tr h="1110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b="1" dirty="0"/>
                        <a:t>Best suited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Broad discovery and general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Targeted monitoring of designated official sources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12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97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C232D-A8B6-249B-9A8E-7DD32FBE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Why Custom Search Is Required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CE99C4-89E6-5FE4-A4D9-33ECFDB97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zh-CN" altLang="zh-CN" sz="2400" b="1" dirty="0"/>
              <a:t>Meet the business requirement:</a:t>
            </a:r>
            <a:r>
              <a:rPr lang="zh-CN" altLang="zh-CN" sz="2400" dirty="0"/>
              <a:t> News included in the brief must originate from designated official sources.</a:t>
            </a:r>
            <a:endParaRPr lang="en-US" altLang="zh-CN" sz="2400" dirty="0"/>
          </a:p>
          <a:p>
            <a:pPr lvl="0"/>
            <a:endParaRPr lang="zh-CN" altLang="zh-CN" sz="2400" dirty="0"/>
          </a:p>
          <a:p>
            <a:pPr lvl="0"/>
            <a:r>
              <a:rPr lang="zh-CN" altLang="zh-CN" sz="2400" b="1" dirty="0"/>
              <a:t>Control sources at retrieval:</a:t>
            </a:r>
            <a:r>
              <a:rPr lang="zh-CN" altLang="zh-CN" sz="2400" dirty="0"/>
              <a:t> Apply a configured website allowlist instead of relying solely on prompt instructions.</a:t>
            </a:r>
            <a:endParaRPr lang="en-US" altLang="zh-CN" sz="2400" dirty="0"/>
          </a:p>
          <a:p>
            <a:pPr lvl="0"/>
            <a:endParaRPr lang="zh-CN" altLang="zh-CN" sz="2400" dirty="0"/>
          </a:p>
          <a:p>
            <a:pPr lvl="0"/>
            <a:r>
              <a:rPr lang="zh-CN" altLang="zh-CN" sz="2400" b="1" dirty="0"/>
              <a:t>Manage scope consistently:</a:t>
            </a:r>
            <a:r>
              <a:rPr lang="zh-CN" altLang="zh-CN" sz="2400" dirty="0"/>
              <a:t> Reuse and maintain source configurations across monitoring topics.</a:t>
            </a:r>
            <a:endParaRPr lang="en-US" altLang="zh-CN" sz="2400" dirty="0"/>
          </a:p>
          <a:p>
            <a:pPr lvl="0"/>
            <a:endParaRPr lang="zh-CN" altLang="zh-CN" sz="2400" dirty="0"/>
          </a:p>
          <a:p>
            <a:pPr lvl="0"/>
            <a:r>
              <a:rPr lang="zh-CN" altLang="zh-CN" sz="2400" b="1" dirty="0"/>
              <a:t>Support review:</a:t>
            </a:r>
            <a:r>
              <a:rPr lang="zh-CN" altLang="zh-CN" sz="2400" dirty="0"/>
              <a:t> Retain source citations so the GCE Office can inspect the underlying publications.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44048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BB0A7-0061-40DF-548A-E5E1D595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14131-4D74-3973-834F-3D8299A39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5986"/>
            <a:ext cx="9144000" cy="946027"/>
          </a:xfrm>
        </p:spPr>
        <p:txBody>
          <a:bodyPr/>
          <a:lstStyle/>
          <a:p>
            <a:r>
              <a:rPr lang="en-US" altLang="zh-CN" b="1" dirty="0"/>
              <a:t>Thank You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540113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1267</Words>
  <Application>Microsoft Office PowerPoint</Application>
  <PresentationFormat>宽屏</PresentationFormat>
  <Paragraphs>38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Grounding with Bing Custom Search</vt:lpstr>
      <vt:lpstr>Business Purpose – Smart Nudge</vt:lpstr>
      <vt:lpstr>Solution Architecture</vt:lpstr>
      <vt:lpstr>Live Demo: General vs Custom Search</vt:lpstr>
      <vt:lpstr>Why Custom Search Is Required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Yunyao Liu</dc:creator>
  <cp:lastModifiedBy>Yunyao Liu</cp:lastModifiedBy>
  <cp:revision>2</cp:revision>
  <dcterms:created xsi:type="dcterms:W3CDTF">2026-10-22T09:21:12Z</dcterms:created>
  <dcterms:modified xsi:type="dcterms:W3CDTF">2026-10-23T07:28:18Z</dcterms:modified>
</cp:coreProperties>
</file>